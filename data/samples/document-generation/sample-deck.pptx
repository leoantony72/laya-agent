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8BDF8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</c:v>
                </c:pt>
                <c:pt idx="1">
                  <c:v>3.2</c:v>
                </c:pt>
                <c:pt idx="2">
                  <c:v>4.2</c:v>
                </c:pt>
                <c:pt idx="3">
                  <c:v>4.8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9AA8B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9AA8BC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spPr>
    <a:solidFill>
      <a:srgbClr val="111C2E"/>
    </a:solidFill>
    <a:ln>
      <a:noFill/>
    </a:ln>
  </c:spPr>
  <c:txPr>
    <a:bodyPr/>
    <a:lstStyle/>
    <a:p>
      <a:pPr>
        <a:defRPr sz="1000">
          <a:solidFill>
            <a:srgbClr val="F8FAF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99937" y="0"/>
            <a:ext cx="3291757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417320"/>
            <a:ext cx="7558851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8000"/>
              </a:lnSpc>
            </a:pPr>
            <a:r>
              <a:rPr sz="4200" b="1" i="0">
                <a:solidFill>
                  <a:srgbClr val="F8FAFC"/>
                </a:solidFill>
                <a:latin typeface="Segoe UI"/>
              </a:rPr>
              <a:t>Annual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971800"/>
            <a:ext cx="7315017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9AA8BC"/>
                </a:solidFill>
                <a:latin typeface="Segoe UI"/>
              </a:rPr>
              <a:t>Performance, outlook,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989320"/>
            <a:ext cx="670543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A8BC"/>
                </a:solidFill>
                <a:latin typeface="Segoe UI"/>
              </a:rPr>
              <a:t>WinBrow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30352" y="6437376"/>
            <a:ext cx="11130991" cy="0"/>
          </a:xfrm>
          <a:prstGeom prst="line">
            <a:avLst/>
          </a:prstGeom>
          <a:ln w="6350">
            <a:solidFill>
              <a:srgbClr val="9AA8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483096"/>
            <a:ext cx="8348243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A8BC"/>
                </a:solidFill>
                <a:latin typeface="Segoe UI"/>
              </a:rP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8383" y="6483096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9AA8BC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30352"/>
            <a:ext cx="11130991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8FAFC"/>
                </a:solidFill>
                <a:latin typeface="Segoe UI"/>
              </a:rPr>
              <a:t>What 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3247644"/>
            <a:ext cx="11130991" cy="30434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237744" indent="-182880">
              <a:lnSpc>
                <a:spcPct val="108000"/>
              </a:lnSpc>
              <a:spcAft>
                <a:spcPts val="700"/>
              </a:spcAft>
              <a:buChar char="•"/>
            </a:pPr>
            <a:r>
              <a:rPr sz="2300">
                <a:solidFill>
                  <a:srgbClr val="F8FAFC"/>
                </a:solidFill>
                <a:latin typeface="Segoe UI"/>
              </a:rPr>
              <a:t>Revenue grew 18%</a:t>
            </a:r>
          </a:p>
          <a:p>
            <a:pPr marL="237744" indent="-182880">
              <a:lnSpc>
                <a:spcPct val="108000"/>
              </a:lnSpc>
              <a:spcAft>
                <a:spcPts val="700"/>
              </a:spcAft>
              <a:buChar char="•"/>
            </a:pPr>
            <a:r>
              <a:rPr sz="2300">
                <a:solidFill>
                  <a:srgbClr val="F8FAFC"/>
                </a:solidFill>
                <a:latin typeface="Segoe UI"/>
              </a:rPr>
              <a:t>Enterprise drove 70% of growth</a:t>
            </a:r>
          </a:p>
          <a:p>
            <a:pPr marL="237744" indent="-182880">
              <a:lnSpc>
                <a:spcPct val="108000"/>
              </a:lnSpc>
              <a:spcAft>
                <a:spcPts val="700"/>
              </a:spcAft>
              <a:buChar char="•"/>
            </a:pPr>
            <a:r>
              <a:rPr sz="2300">
                <a:solidFill>
                  <a:srgbClr val="F8FAFC"/>
                </a:solidFill>
                <a:latin typeface="Segoe UI"/>
              </a:rPr>
              <a:t>Churn fell to 2.1%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30352" y="6437376"/>
            <a:ext cx="11130991" cy="0"/>
          </a:xfrm>
          <a:prstGeom prst="line">
            <a:avLst/>
          </a:prstGeom>
          <a:ln w="6350">
            <a:solidFill>
              <a:srgbClr val="9AA8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483096"/>
            <a:ext cx="8348243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A8BC"/>
                </a:solidFill>
                <a:latin typeface="Segoe UI"/>
              </a:rP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8383" y="6483096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9AA8BC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30352"/>
            <a:ext cx="11130991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8FAFC"/>
                </a:solidFill>
                <a:latin typeface="Segoe UI"/>
              </a:rPr>
              <a:t>Revenue by region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0352" y="3159252"/>
          <a:ext cx="1113099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0330"/>
                <a:gridCol w="3710330"/>
                <a:gridCol w="371033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1220"/>
                          </a:solidFill>
                          <a:latin typeface="Segoe UI"/>
                        </a:rPr>
                        <a:t>Region</a:t>
                      </a:r>
                    </a:p>
                  </a:txBody>
                  <a:tcPr marL="73152" marR="73152" marT="27432" marB="27432"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1220"/>
                          </a:solidFill>
                          <a:latin typeface="Segoe UI"/>
                        </a:rPr>
                        <a:t>Revenue</a:t>
                      </a:r>
                    </a:p>
                  </a:txBody>
                  <a:tcPr marL="73152" marR="73152" marT="27432" marB="27432"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1220"/>
                          </a:solidFill>
                          <a:latin typeface="Segoe UI"/>
                        </a:rPr>
                        <a:t>Growth</a:t>
                      </a:r>
                    </a:p>
                  </a:txBody>
                  <a:tcPr marL="73152" marR="73152" marT="27432" marB="27432" anchor="ctr">
                    <a:solidFill>
                      <a:srgbClr val="38BD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Segoe UI"/>
                        </a:rPr>
                        <a:t>North</a:t>
                      </a:r>
                    </a:p>
                  </a:txBody>
                  <a:tcPr marL="73152" marR="73152" marT="27432" marB="27432" anchor="ctr">
                    <a:solidFill>
                      <a:srgbClr val="111C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Segoe UI"/>
                        </a:rPr>
                        <a:t>$4.2M</a:t>
                      </a:r>
                    </a:p>
                  </a:txBody>
                  <a:tcPr marL="73152" marR="73152" marT="27432" marB="27432" anchor="ctr">
                    <a:solidFill>
                      <a:srgbClr val="111C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Segoe UI"/>
                        </a:rPr>
                        <a:t>18%</a:t>
                      </a:r>
                    </a:p>
                  </a:txBody>
                  <a:tcPr marL="73152" marR="73152" marT="27432" marB="27432" anchor="ctr">
                    <a:solidFill>
                      <a:srgbClr val="111C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Segoe UI"/>
                        </a:rPr>
                        <a:t>South</a:t>
                      </a:r>
                    </a:p>
                  </a:txBody>
                  <a:tcPr marL="73152" marR="73152" marT="27432" marB="27432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Segoe UI"/>
                        </a:rPr>
                        <a:t>$3.1M</a:t>
                      </a:r>
                    </a:p>
                  </a:txBody>
                  <a:tcPr marL="73152" marR="73152" marT="27432" marB="27432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Segoe UI"/>
                        </a:rPr>
                        <a:t>12%</a:t>
                      </a:r>
                    </a:p>
                  </a:txBody>
                  <a:tcPr marL="73152" marR="73152" marT="27432" marB="27432" anchor="ctr">
                    <a:solidFill>
                      <a:srgbClr val="0B122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Segoe UI"/>
                        </a:rPr>
                        <a:t>East</a:t>
                      </a:r>
                    </a:p>
                  </a:txBody>
                  <a:tcPr marL="73152" marR="73152" marT="27432" marB="27432" anchor="ctr">
                    <a:solidFill>
                      <a:srgbClr val="111C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Segoe UI"/>
                        </a:rPr>
                        <a:t>$2.8M</a:t>
                      </a:r>
                    </a:p>
                  </a:txBody>
                  <a:tcPr marL="73152" marR="73152" marT="27432" marB="27432" anchor="ctr">
                    <a:solidFill>
                      <a:srgbClr val="111C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F8FAFC"/>
                          </a:solidFill>
                          <a:latin typeface="Segoe UI"/>
                        </a:rPr>
                        <a:t>8%</a:t>
                      </a:r>
                    </a:p>
                  </a:txBody>
                  <a:tcPr marL="73152" marR="73152" marT="27432" marB="27432" anchor="ctr">
                    <a:solidFill>
                      <a:srgbClr val="111C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30352" y="6437376"/>
            <a:ext cx="11130991" cy="0"/>
          </a:xfrm>
          <a:prstGeom prst="line">
            <a:avLst/>
          </a:prstGeom>
          <a:ln w="6350">
            <a:solidFill>
              <a:srgbClr val="9AA8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483096"/>
            <a:ext cx="8348243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A8BC"/>
                </a:solidFill>
                <a:latin typeface="Segoe UI"/>
              </a:rP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8383" y="6483096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9AA8BC"/>
                </a:solidFill>
                <a:latin typeface="Segoe U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30352"/>
            <a:ext cx="11130991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8FAFC"/>
                </a:solidFill>
                <a:latin typeface="Segoe UI"/>
              </a:rPr>
              <a:t>Where we operate</a:t>
            </a:r>
          </a:p>
        </p:txBody>
      </p:sp>
      <p:pic>
        <p:nvPicPr>
          <p:cNvPr id="7" name="Picture 6" descr="wind-mountain-columbia-r-nara-102278851-page-1-png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700" y="1417320"/>
            <a:ext cx="6716294" cy="4306824"/>
          </a:xfrm>
          <a:prstGeom prst="rect">
            <a:avLst/>
          </a:prstGeom>
          <a:ln w="6350">
            <a:solidFill>
              <a:srgbClr val="9AA8B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30352" y="5760720"/>
            <a:ext cx="11130991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AA8BC"/>
                </a:solidFill>
                <a:latin typeface="Segoe UI"/>
              </a:rPr>
              <a:t>Regional landscape</a:t>
            </a:r>
          </a:p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AA8BC"/>
                </a:solidFill>
                <a:latin typeface="Segoe UI"/>
              </a:rPr>
              <a:t>"Wind Mountain" Columbia R - NARA - 102278851 (page 1).png — James Madison Alden (Public domain), Wikimedia Commons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30352" y="6437376"/>
            <a:ext cx="11130991" cy="0"/>
          </a:xfrm>
          <a:prstGeom prst="line">
            <a:avLst/>
          </a:prstGeom>
          <a:ln w="6350">
            <a:solidFill>
              <a:srgbClr val="9AA8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483096"/>
            <a:ext cx="8348243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A8BC"/>
                </a:solidFill>
                <a:latin typeface="Segoe UI"/>
              </a:rP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8383" y="6483096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9AA8BC"/>
                </a:solidFill>
                <a:latin typeface="Segoe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30352"/>
            <a:ext cx="11130991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8FAFC"/>
                </a:solidFill>
                <a:latin typeface="Segoe UI"/>
              </a:rPr>
              <a:t>Quarterly growth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30352" y="1417320"/>
          <a:ext cx="11130991" cy="48737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30352" y="6437376"/>
            <a:ext cx="11130991" cy="0"/>
          </a:xfrm>
          <a:prstGeom prst="line">
            <a:avLst/>
          </a:prstGeom>
          <a:ln w="6350">
            <a:solidFill>
              <a:srgbClr val="9AA8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6483096"/>
            <a:ext cx="8348243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A8BC"/>
                </a:solidFill>
                <a:latin typeface="Segoe UI"/>
              </a:rP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8383" y="6483096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9AA8BC"/>
                </a:solidFill>
                <a:latin typeface="Segoe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30352"/>
            <a:ext cx="11130991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8FAFC"/>
                </a:solidFill>
                <a:latin typeface="Segoe UI"/>
              </a:rPr>
              <a:t>Next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3305556"/>
            <a:ext cx="3588410" cy="1097280"/>
          </a:xfrm>
          <a:prstGeom prst="roundRect">
            <a:avLst/>
          </a:prstGeom>
          <a:solidFill>
            <a:srgbClr val="111C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3396996"/>
            <a:ext cx="340553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F8FAFC"/>
                </a:solidFill>
                <a:latin typeface="Segoe UI"/>
              </a:rPr>
              <a:t>Focus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64482" y="3744468"/>
            <a:ext cx="91440" cy="219456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01642" y="3305556"/>
            <a:ext cx="3588410" cy="1097280"/>
          </a:xfrm>
          <a:prstGeom prst="roundRect">
            <a:avLst/>
          </a:prstGeom>
          <a:solidFill>
            <a:srgbClr val="111C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3082" y="3396996"/>
            <a:ext cx="340553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F8FAFC"/>
                </a:solidFill>
                <a:latin typeface="Segoe UI"/>
              </a:rPr>
              <a:t>Harden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35772" y="3744468"/>
            <a:ext cx="91440" cy="219456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72932" y="3305556"/>
            <a:ext cx="3588410" cy="1097280"/>
          </a:xfrm>
          <a:prstGeom prst="roundRect">
            <a:avLst/>
          </a:prstGeom>
          <a:solidFill>
            <a:srgbClr val="111C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4372" y="3396996"/>
            <a:ext cx="340553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F8FAFC"/>
                </a:solidFill>
                <a:latin typeface="Segoe UI"/>
              </a:rPr>
              <a:t>Scale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38647" y="2529840"/>
            <a:ext cx="91440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849880"/>
            <a:ext cx="11130991" cy="518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sz="3000" b="0" i="1">
                <a:solidFill>
                  <a:srgbClr val="F8FAFC"/>
                </a:solidFill>
                <a:latin typeface="Segoe UI"/>
              </a:rPr>
              <a:t>“Simplicity is the ultimate sophistication.”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505200"/>
            <a:ext cx="1113099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sz="1700" b="0" i="0">
                <a:solidFill>
                  <a:srgbClr val="9AA8BC"/>
                </a:solidFill>
                <a:latin typeface="Segoe UI"/>
              </a:rPr>
              <a:t>— Leonardo da Vinci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0"/>
            <a:ext cx="11130991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sz="4200" b="1" i="0">
                <a:solidFill>
                  <a:srgbClr val="F8FAFC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2971800"/>
            <a:ext cx="11130991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sz="1700" b="0" i="0">
                <a:solidFill>
                  <a:srgbClr val="9AA8BC"/>
                </a:solidFill>
                <a:latin typeface="Segoe U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0"/>
            <a:ext cx="11130991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AA8BC"/>
                </a:solidFill>
                <a:latin typeface="Segoe UI"/>
              </a:rPr>
              <a:t>WinBrow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Annual Review</dc:title>
  <dc:subject/>
  <dc:creator>WinBrow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